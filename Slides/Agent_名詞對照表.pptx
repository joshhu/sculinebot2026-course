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977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  ·  AGENT  TERMINOLOGY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相關名詞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中英對照表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400" y="3931920"/>
            <a:ext cx="320040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從 LLM、Prompt、Agent 到 MCP、Hooks、Safety —— 13 個分類、150+ 個關鍵詞彙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6217920"/>
            <a:ext cx="11780215" cy="640080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62636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2026 年上半年 · 東吳大學資訊科學系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19695" y="6263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400" kern="0" dirty="0">
                <a:solidFill>
                  <a:srgbClr val="D977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SECTIONS  ·  150+ TERMS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977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868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個主題分類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97280" y="19202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1920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Models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21762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核心模型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5603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37360" y="2560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37360" y="28163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提示詞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32004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37360" y="3200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37360" y="34564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代理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38404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37360" y="3840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Reasoning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37360" y="4096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推理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44805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37360" y="4480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Tools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37360" y="4736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工具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51206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37360" y="5120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MCP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37360" y="53766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模型上下文協定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5760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737360" y="5760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 Skills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737360" y="60167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代理技能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0" y="19202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406640" y="1920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Memory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06640" y="21762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記憶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66560" y="25603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406640" y="2560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06640" y="28163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檢索增強生成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66560" y="32004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406640" y="3200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Hooks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406640" y="34564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鉤子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66560" y="38404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406640" y="3840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406640" y="4096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可觀測性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66560" y="44805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406640" y="4480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Safety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406640" y="4736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安全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66560" y="51206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406640" y="5120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406640" y="53766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可靠性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11480" y="6492240"/>
            <a:ext cx="11780215" cy="365760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45" name="Text 43"/>
          <p:cNvSpPr/>
          <p:nvPr/>
        </p:nvSpPr>
        <p:spPr>
          <a:xfrm>
            <a:off x="914400" y="651052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F0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 TERMINOLOGY  ·  AGENDA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8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03120" y="6400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核心模型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103120" y="107899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Models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0911535" cy="0"/>
          </a:xfrm>
          <a:prstGeom prst="line">
            <a:avLst/>
          </a:prstGeom>
          <a:noFill/>
          <a:ln w="19050">
            <a:solidFill>
              <a:srgbClr val="D97757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615665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English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中文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說明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LLM / Large Language Model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大型語言模型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Agent 的核心「大腦」，負責理解語言、生成內容、推理、規劃與決策。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Foundation Model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基礎模型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可支援多種任務的大型通用模型，LLM 是其中一種。Agent 通常會把基礎模型包裝成可行動的系統。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Chat Model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對話模型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以多輪訊息方式運作的模型，通常包含 system、user、assistant、tool 等角色訊息。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Multimodal Model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多模態模型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可同時處理文字、圖片、音訊、影片、檔案等資料型態的模型。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Reasoning Model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推理模型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較擅長多步驟分析、邏輯推導、數學、程式碼、規劃與複雜問題解決的模型。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Token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詞元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模型處理文字的基本單位。輸入、輸出、上下文長度與費用通常都以 token 計算。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Context Window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上下文視窗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模型一次可讀取的最大資訊量，包含指令、對話歷史、工具結果、文件內容等。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Temperature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溫度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控制模型輸出的隨機性。溫度越高，回答越發散；越低，回答越穩定。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Top-p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核取樣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控制模型從多大範圍的候選 token 中抽樣，用於調整輸出多樣性。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Model Settings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模型設定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控制模型行為的參數，例如 temperature、max tokens、tool choice、response format 等。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11480" y="6492240"/>
            <a:ext cx="11780215" cy="365760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6510528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F0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 TERMINOLOGY  ·  CORE MODELS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362895" y="651052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8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03120" y="6400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提示詞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103120" y="107899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0911535" cy="0"/>
          </a:xfrm>
          <a:prstGeom prst="line">
            <a:avLst/>
          </a:prstGeom>
          <a:noFill/>
          <a:ln w="19050">
            <a:solidFill>
              <a:srgbClr val="D97757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615665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English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中文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說明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Prompt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提示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給模型的任務描述、資料、限制與輸出要求。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System Prompt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系統提示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高優先級指令，用來定義 agent 的角色、規則、安全限制與行為模式。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Developer Instructions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開發者指令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開發者提供的產品邏輯與執行規範，例如工具使用規則、輸出格式、禁止行為等。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User Prompt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使用者提示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使用者在當前回合提出的問題、要求、資料或命令。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Prompt Template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提示模板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可重複使用的提示格式，通常含有變數，例如 {task}、{context}、{format}。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Assistant Prompt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助理提示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LLM 的回答。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Dynamic Instructions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動態指令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根據使用者、任務、資料或 runtime 狀態即時產生的指令。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11480" y="6492240"/>
            <a:ext cx="11780215" cy="365760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6510528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F0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 TERMINOLOGY  ·  PROMPT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362895" y="651052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8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03120" y="6400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代理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103120" y="107899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0911535" cy="0"/>
          </a:xfrm>
          <a:prstGeom prst="line">
            <a:avLst/>
          </a:prstGeom>
          <a:noFill/>
          <a:ln w="19050">
            <a:solidFill>
              <a:srgbClr val="D97757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615665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English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中文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說明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Agent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AI 代理／智能代理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能接收目標、理解上下文、推理、使用工具並完成多步驟任務的 AI 系統。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AI Agent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人工智慧代理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泛指具備自主判斷與行動能力的 AI 程式，不只是回答問題，也能執行任務。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LLM Agent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大型語言模型代理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以 LLM 為核心，搭配工具、記憶、規劃與外部系統的 agent。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Agentic System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代理式系統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由一個或多個 agent、工具、資料源、記憶、流程與安全機制組成的完整系統。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Agent Loop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代理迴圈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Agent 反覆進行「觀察 → 推理 → 行動 → 取得結果 → 再判斷」的流程。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Run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執行回合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一次 agent 任務執行，可能包含多次模型呼叫、工具呼叫與中間狀態更新。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Turn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對話輪次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使用者與 agent 的一次互動，例如使用者問一句、agent 回一句。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Runner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執行器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負責執行 agent loop 的元件，管理模型呼叫、工具呼叫、錯誤處理與最終輸出。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Orchestration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編排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安排多個 agent、工具、流程、狀態與資料來源如何協同工作。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Workflow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工作流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一組明確步驟，例如「讀檔 → 分析 → 查資料 → 寫報告 → 驗證」。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Single-Agent System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單代理系統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由一個 agent 負責整個任務，可能搭配多個工具。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Multi-Agent System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多代理系統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多個 agent 分工合作，例如研究代理、程式代理、審查代理、客服代理。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Supervisor Agent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監督代理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負責分派任務、協調其他 agent、整合結果與控制流程。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Worker Agent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工作代理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負責執行具體子任務的 agent，例如查資料、寫程式、整理表格。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Subagent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子代理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被主 agent 呼叫的次級 agent，通常專精於某個特定任務。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Handoff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交接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一個 agent 將任務轉交給另一個更適合的 agent，例如客服代理轉給退款代理。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Routing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路由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根據任務類型、使用者意圖、資料來源或風險等級，把請求導向合適的 agent 或工具。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Agent as Tool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代理作為工具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將一個 agent 包裝成另一個 agent 可以呼叫的工具。</a:t>
                      </a:r>
                      <a:endParaRPr lang="en-US" sz="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11480" y="6492240"/>
            <a:ext cx="11780215" cy="365760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6510528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F0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 TERMINOLOGY  ·  AGENT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362895" y="651052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8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03120" y="6400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推理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103120" y="107899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Reasoning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0911535" cy="0"/>
          </a:xfrm>
          <a:prstGeom prst="line">
            <a:avLst/>
          </a:prstGeom>
          <a:noFill/>
          <a:ln w="19050">
            <a:solidFill>
              <a:srgbClr val="D97757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615665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English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中文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說明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Reasoning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推理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Agent 分析問題、拆解任務、判斷下一步、整合資訊並產生答案的過程。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Planning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規劃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Agent 在行動前安排步驟、工具、順序與停止條件。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Task Decomposition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任務分解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將複雜任務拆成較小子任務，例如研究、計算、撰寫、驗證。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Chain-of-Thought / CoT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思維鏈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多步驟推理的形式。實務上可幫助模型解決複雜問題，但不一定需要完整展示給使用者。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ReAct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推理與行動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Reasoning + Acting 的模式，agent 一邊推理，一邊呼叫工具取得新資訊。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Reflection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反思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Agent 檢查自己的中間結果或最終答案，並嘗試修正錯誤。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Critic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評審器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專門檢查答案品質、邏輯、格式、安全性或事實正確性的模型或 agent。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Verifier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驗證器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用來確認結果是否符合條件、資料是否正確、格式是否合格。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Self-Consistency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自洽性檢查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透過多個推理路徑或候選答案，檢查結果是否一致。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Grounding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根據化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要求回答必須基於文件、資料庫、工具結果或明確來源，而不是憑空生成。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Hallucination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幻覺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模型產生看似合理但其實錯誤、無根據或捏造的內容。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11480" y="6492240"/>
            <a:ext cx="11780215" cy="365760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6510528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F0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 TERMINOLOGY  ·  REASONING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362895" y="651052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8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03120" y="6400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工具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103120" y="107899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Tools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0911535" cy="0"/>
          </a:xfrm>
          <a:prstGeom prst="line">
            <a:avLst/>
          </a:prstGeom>
          <a:noFill/>
          <a:ln w="19050">
            <a:solidFill>
              <a:srgbClr val="D97757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615665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English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中文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說明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Tool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工具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Agent 可呼叫的外部能力，例如搜尋、資料庫、API、計算器、程式執行、檔案處理等。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Tool Use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工具使用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Agent 判斷何時需要使用外部工具，而不是只靠模型本身回答。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Tool Calling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工具呼叫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模型輸出工具名稱與參數，由系統實際執行工具，再把結果回傳給模型。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Function Calling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函式呼叫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Tool calling 的常見形式，模型根據函式 schema 產生參數，後端執行該函式。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Function Tool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函式工具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以函式形式暴露給 agent 使用的工具，例如 get_weather(city)、query_database(sql)。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Built-in Tool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內建工具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平台預先提供的工具，例如網頁搜尋、檔案搜尋、程式執行、圖片生成等。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Hosted Tool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託管工具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由 AI 平台代管的工具，agent 可直接呼叫，不需要開發者自行部署。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Tool Schema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工具結構描述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定義工具名稱、用途、輸入參數、型別、必填欄位與輸出格式。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Tool Description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工具說明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告訴模型這個工具能做什麼、何時該用、限制是什麼。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Tool Choice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工具選擇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控制模型是否可以自動選工具、必須用工具、不能用工具，或強制使用特定工具。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Tool Result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工具結果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工具執行後回傳給模型的資料，例如查詢結果、搜尋結果、計算結果。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Tool Error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工具錯誤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工具執行失敗時的錯誤，例如參數錯誤、權限不足、API 逾時。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Tool Guardrail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工具護欄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在工具呼叫前後檢查輸入輸出，避免危險操作、越權或錯誤結果。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Code Interpreter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程式碼解譯器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讓 agent 執行程式碼，常用於資料分析、圖表產生、檔案處理與數學計算。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Computer Use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電腦操作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讓 agent 操作瀏覽器、GUI 或作業系統介面，例如點擊、輸入、讀取畫面。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Sandbox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沙盒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隔離的執行環境，用來安全執行程式、操作檔案或測試流程。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11480" y="6492240"/>
            <a:ext cx="11780215" cy="365760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6510528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F0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 TERMINOLOGY  ·  TOOLS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362895" y="651052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8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03120" y="6400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模型上下文協定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103120" y="107899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MCP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0911535" cy="0"/>
          </a:xfrm>
          <a:prstGeom prst="line">
            <a:avLst/>
          </a:prstGeom>
          <a:noFill/>
          <a:ln w="19050">
            <a:solidFill>
              <a:srgbClr val="D97757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615665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English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中文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說明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MCP / Model Context Protocol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模型上下文協定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一種開放協定，用來標準化 AI 應用如何連接外部工具、資料來源與工作流。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MCP Host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MCP 主機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發起 MCP 連線的 AI 應用，例如聊天介面、IDE、桌面助理或 agent runtime。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MCP Client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MCP 客戶端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Host 內部負責與 MCP server 溝通的連接元件。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MCP Server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MCP 伺服器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提供工具、資料、提示或能力給 AI 應用使用的服務。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MCP Tool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MCP 工具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MCP server 暴露給 AI 使用的可執行功能，例如查資料庫、呼叫 API、操作檔案。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MCP Resource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MCP 資源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MCP server 提供的資料或上下文，例如檔案、文件、資料庫記錄、設定檔。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MCP Prompt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MCP 提示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MCP server 提供的提示模板或工作流模板，可供 host 或 agent 使用。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JSON-RPC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JSON 遠端程序呼叫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MCP 常用的訊息交換格式，用於 client 和 server 之間的請求、回應與通知。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Capability Negotiation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能力協商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MCP client 與 server 連線時確認雙方支援哪些功能，例如 tools、resources、prompts。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Sampling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取樣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MCP 中 server 可請求 host 使用模型生成內容的能力，適合更複雜的互動式流程。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Roots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根目錄／邊界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MCP client 告訴 server 可存取的檔案或 URI 範圍，用來限制權限。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Elicitation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資訊引出／追問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MCP server 向使用者請求額外資訊，例如缺少參數、確認或授權。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Transport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傳輸層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MCP client 與 server 溝通的方式，例如 stdio、HTTP 等。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Stdio Transport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標準輸入輸出傳輸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本機 MCP server 常見的傳輸方式，透過標準輸入與輸出溝通。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Remote MCP Server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遠端 MCP 伺服器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部署在網路上的 MCP server，常用於 SaaS、企業系統或雲端資料源。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MCP Registry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MCP 登錄庫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用來發現、發布或管理 MCP server 的目錄或生態系元件。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11480" y="6492240"/>
            <a:ext cx="11780215" cy="365760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6510528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F0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 TERMINOLOGY  ·  MCP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362895" y="651052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8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03120" y="6400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代理技能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103120" y="107899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 Skills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0911535" cy="0"/>
          </a:xfrm>
          <a:prstGeom prst="line">
            <a:avLst/>
          </a:prstGeom>
          <a:noFill/>
          <a:ln w="19050">
            <a:solidFill>
              <a:srgbClr val="D97757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615665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English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中文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說明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Agent Skills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代理技能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可攜式能力包，通常包含指令、資源、腳本與範例，讓 agent 執行特定類型任務。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Skill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技能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一個可重複使用的專門能力，例如 PDF 處理、Excel 報表、簡報製作、資料清理。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SKILL.md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技能說明檔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Agent skill 的核心說明文件，通常定義技能名稱、用途、觸發條件與操作步驟。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Skill Metadata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技能中繼資料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描述 skill 的名稱、用途、適用情境、限制與相關資源，幫助 agent 判斷是否使用。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Skill Invocation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技能調用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Agent 根據使用者要求或任務需求，自動或明確啟用某個 skill。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Progressive Disclosure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漸進式揭露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先只載入 skill 的簡短描述，等需要時再讀取完整內容，以節省 context。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11480" y="6492240"/>
            <a:ext cx="11780215" cy="365760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6510528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F0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 TERMINOLOGY  ·  AGENT SKILLS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362895" y="651052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8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03120" y="6400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記憶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103120" y="107899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Memory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0911535" cy="0"/>
          </a:xfrm>
          <a:prstGeom prst="line">
            <a:avLst/>
          </a:prstGeom>
          <a:noFill/>
          <a:ln w="19050">
            <a:solidFill>
              <a:srgbClr val="D97757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615665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English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中文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說明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Context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上下文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Agent 當前可用的所有資訊，包括指令、對話、工具結果、文件、使用者狀態等。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Local Context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本地上下文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程式端可用但不一定給模型看的資訊，例如 user id、資料庫連線、權限設定。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LLM Context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模型上下文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實際放進模型輸入中的資訊，例如對話歷史、檢索內容、工具結果。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Conversation History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對話歷史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先前多輪對話中的訊息，幫助 agent 理解任務延續性。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Session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會話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用來保存某個使用者或任務的互動狀態。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Short-Term Memory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短期記憶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當前任務或當前對話中暫時保留的資訊。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Long-Term Memory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長期記憶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跨會話保存的使用者偏好、歷史決策、專案資訊或學習結果。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Agent Memory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代理記憶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Agent 從過往任務中保留可重用經驗，用於改善未來表現。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Memory Consolidation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記憶整合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將零散資訊整理成穩定、可重用的記憶。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Compaction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上下文壓縮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當對話或資料太長時，把內容摘要化或壓縮，以保留重點並降低 token 成本。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11480" y="6492240"/>
            <a:ext cx="11780215" cy="365760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6510528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F0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 TERMINOLOGY  ·  MEMORY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362895" y="651052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8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03120" y="6400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檢索增強生成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103120" y="107899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0911535" cy="0"/>
          </a:xfrm>
          <a:prstGeom prst="line">
            <a:avLst/>
          </a:prstGeom>
          <a:noFill/>
          <a:ln w="19050">
            <a:solidFill>
              <a:srgbClr val="D97757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615665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English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中文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說明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RAG / Retrieval-Augmented Generation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檢索增強生成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先從外部知識庫檢索資料，再讓模型基於資料回答，降低幻覺。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Retriever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檢索器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根據查詢找出相關文件、段落、資料列或向量的元件。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Embedding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嵌入向量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將文字、圖片或資料轉成向量，用於語意搜尋、相似度比較與聚類。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Vector Database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向量資料庫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儲存 embedding 並支援相似度搜尋的資料庫。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Knowledge Base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知識庫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Agent 可查詢的文件、FAQ、wiki、資料庫或企業知識集合。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11480" y="6492240"/>
            <a:ext cx="11780215" cy="365760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6510528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F0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 TERMINOLOGY  ·  RAG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362895" y="651052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8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03120" y="6400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鉤子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103120" y="107899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Hooks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0911535" cy="0"/>
          </a:xfrm>
          <a:prstGeom prst="line">
            <a:avLst/>
          </a:prstGeom>
          <a:noFill/>
          <a:ln w="19050">
            <a:solidFill>
              <a:srgbClr val="D97757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615665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English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中文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說明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Hook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鉤子／生命週期回呼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在 agent 執行特定時間點插入自訂邏輯，例如 logging、監控、審計、修改流程。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Lifecycle Event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生命週期事件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Agent 執行過程中的事件，例如開始、結束、工具呼叫、模型呼叫、handoff。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Callback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回呼函式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某個事件發生時自動執行的函式。hook 通常是 callback 的一種。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RunHooks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執行層鉤子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觀察或處理整個 run 的生命週期，可能跨多個 agent。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AgentHooks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代理層鉤子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綁定在特定 agent 上，只處理該 agent 的生命週期事件。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on_agent_start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代理開始事件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Agent 開始處理任務時觸發。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on_agent_end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代理結束事件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Agent 完成任務或產生最終輸出時觸發。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on_llm_start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模型呼叫開始事件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每次呼叫模型前觸發，可用於記錄 prompt、成本預估或權限檢查。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on_llm_end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模型呼叫結束事件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模型回應後觸發，可用於記錄 token、latency、輸出內容。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on_tool_start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工具開始事件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工具執行前觸發，可用於審計、權限檢查、參數驗證。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on_tool_end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工具結束事件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工具執行後觸發，可用於記錄結果、清理狀態、錯誤處理。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on_handoff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交接事件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一個 agent 將任務交給另一個 agent 時觸發。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Middleware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中介層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插在請求、模型、工具或回應流程中的處理層，例如 logging、retry、error handling。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11480" y="6492240"/>
            <a:ext cx="11780215" cy="365760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6510528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F0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 TERMINOLOGY  ·  HOOKS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362895" y="651052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8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03120" y="6400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可觀測性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103120" y="107899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0911535" cy="0"/>
          </a:xfrm>
          <a:prstGeom prst="line">
            <a:avLst/>
          </a:prstGeom>
          <a:noFill/>
          <a:ln w="19050">
            <a:solidFill>
              <a:srgbClr val="D97757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615665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English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中文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說明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Tracing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追蹤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記錄 agent 執行過程中的模型呼叫、工具呼叫、handoff、錯誤與耗時。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Trace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追蹤紀錄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一次完整 workflow 的執行紀錄。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Span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區段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Trace 中的一段具開始與結束時間的操作，例如一次工具呼叫或模型呼叫。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Logging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日誌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記錄事件、錯誤、工具輸入輸出、系統狀態與審計資訊。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Metrics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指標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衡量 latency、token 使用量、成本、成功率、錯誤率、工具呼叫次數等。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Evaluation / Evals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評估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測試 agent 的正確性、安全性、穩定性、任務成功率與使用者體驗。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11480" y="6492240"/>
            <a:ext cx="11780215" cy="365760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6510528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F0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 TERMINOLOGY  ·  OBSERVABILITY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362895" y="651052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8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03120" y="6400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103120" y="107899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Safety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0911535" cy="0"/>
          </a:xfrm>
          <a:prstGeom prst="line">
            <a:avLst/>
          </a:prstGeom>
          <a:noFill/>
          <a:ln w="19050">
            <a:solidFill>
              <a:srgbClr val="D97757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615665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English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中文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說明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Guardrails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護欄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對輸入、輸出與工具呼叫做安全、格式、品質或權限檢查。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Input Guardrail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輸入護欄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在 agent 處理前檢查使用者輸入是否安全、合規或超出範圍。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Output Guardrail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輸出護欄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在 agent 回答前檢查輸出是否符合安全、格式與品質要求。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Tripwire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觸發線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當 guardrail 判定高風險或不合格時觸發中止、阻擋或人工審核。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Human-in-the-loop / HITL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人在迴路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在高風險決策或操作前加入真人確認，例如刪除資料、付款、發信、部署。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Approval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核准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真人或系統對高風險行動給予允許。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Permission Boundary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權限邊界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限制 agent 可讀取的資料、可使用的工具與可執行的操作。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Least Privilege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最小權限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只給 agent 完成任務所需的最低權限。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Prompt Injection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提示注入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惡意內容試圖操控 agent 忽略原本指令或洩漏敏感資訊。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Tool Poisoning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工具污染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工具描述、工具結果或外部資料被惡意設計，導致 agent 做出錯誤或危險行動。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Data Exfiltration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資料外洩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Agent 被誘導把敏感資訊傳到未授權位置。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PII Redaction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個資遮蔽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移除或遮蔽姓名、電話、身分證號、地址等個人資料。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11480" y="6492240"/>
            <a:ext cx="11780215" cy="365760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6510528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F0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 TERMINOLOGY  ·  SAFETY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362895" y="651052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8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03120" y="6400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可靠性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103120" y="107899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0911535" cy="0"/>
          </a:xfrm>
          <a:prstGeom prst="line">
            <a:avLst/>
          </a:prstGeom>
          <a:noFill/>
          <a:ln w="19050">
            <a:solidFill>
              <a:srgbClr val="D97757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615665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English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中文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0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說明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Retry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重試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工具或模型呼叫失敗時再次嘗試。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Timeout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逾時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限制模型、工具或 API 的最大等待時間，避免流程卡住。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Rate Limit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速率限制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限制請求頻率，避免超額、過載或成本失控。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Fallback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備援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主模型、工具或資料源失敗時切換到替代方案。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Idempotency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冪等性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同一操作重複執行不會造成額外副作用，對付款、刪除、寄信等特別重要。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State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狀態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Agent 執行中保存的進度、變數、工具結果、對話歷史與決策資訊。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3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Checkpoint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檢查點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保存中間狀態，方便失敗後恢復、審計或人工接手。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11480" y="6492240"/>
            <a:ext cx="11780215" cy="365760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6510528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F0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 TERMINOLOGY  ·  RELIABILITY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362895" y="651052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/ 13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4688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5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77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讓我們從詞彙開始，建立 Agent 的共同語言。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4297680"/>
            <a:ext cx="2743200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434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C8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2026 · 東吳大學資訊科學系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相關名詞中英對照表</dc:title>
  <dc:subject>PptxGenJS Presentation</dc:subject>
  <dc:creator>Josh Hu</dc:creator>
  <cp:lastModifiedBy>Josh Hu</cp:lastModifiedBy>
  <cp:revision>1</cp:revision>
  <dcterms:created xsi:type="dcterms:W3CDTF">2026-05-04T16:16:20Z</dcterms:created>
  <dcterms:modified xsi:type="dcterms:W3CDTF">2026-05-04T16:16:20Z</dcterms:modified>
</cp:coreProperties>
</file>